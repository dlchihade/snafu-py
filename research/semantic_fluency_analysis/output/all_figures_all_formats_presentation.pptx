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Semantic Fluency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Figures - All Formats</a:t>
            </a:r>
          </a:p>
          <a:p>
            <a:r>
              <a:t>(SVG, PNG, PDF)</a:t>
            </a:r>
          </a:p>
          <a:p>
            <a:r>
              <a:t>Excluding Zero Values (N=45)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0_alpha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2617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Figure0 Alpha Violin Swarm (.PNG)</a:t>
            </a:r>
          </a:p>
          <a:p>
            <a:pPr>
              <a:defRPr sz="576" i="1"/>
            </a:pPr>
            <a:r>
              <a:t>output/NATURE_REAL_figure0_alpha_violin_swarm.png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0b_coherence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222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Figure0B Coherence Violin Swarm (.PNG)</a:t>
            </a:r>
          </a:p>
          <a:p>
            <a:pPr>
              <a:defRPr sz="576" i="1"/>
            </a:pPr>
            <a:r>
              <a:t>output/NATURE_REAL_figure0b_coherence_violin_swarm.png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1_exploration_explo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28" y="457200"/>
            <a:ext cx="8040143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Figure1 Exploration Exploitation (.PNG)</a:t>
            </a:r>
          </a:p>
          <a:p>
            <a:pPr>
              <a:defRPr sz="576" i="1"/>
            </a:pPr>
            <a:r>
              <a:t>output/NATURE_REAL_figure1_exploration_exploitation.png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2_phase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9" y="457200"/>
            <a:ext cx="813014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Figure2 Phase Coherence (.PNG)</a:t>
            </a:r>
          </a:p>
          <a:p>
            <a:pPr>
              <a:defRPr sz="576" i="1"/>
            </a:pPr>
            <a:r>
              <a:t>output/NATURE_REAL_figure2_phase_coherence.png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3_meg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06" y="457200"/>
            <a:ext cx="7849787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Figure3 Meg Correlations (.PNG)</a:t>
            </a:r>
          </a:p>
          <a:p>
            <a:pPr>
              <a:defRPr sz="576" i="1"/>
            </a:pPr>
            <a:r>
              <a:t>output/NATURE_REAL_figure3_meg_correlations.png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figure4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3057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Figure4 Comprehensive (.PNG)</a:t>
            </a:r>
          </a:p>
          <a:p>
            <a:pPr>
              <a:defRPr sz="576" i="1"/>
            </a:pPr>
            <a:r>
              <a:t>output/NATURE_REAL_figure4_comprehensive.png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behavio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57" y="457200"/>
            <a:ext cx="8492284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Behavior Performance (.PNG)</a:t>
            </a:r>
          </a:p>
          <a:p>
            <a:pPr>
              <a:defRPr sz="576" i="1"/>
            </a:pPr>
            <a:r>
              <a:t>output/NATURE_REAL_behavior_performance.png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ee_vs_mo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37" y="457200"/>
            <a:ext cx="7164524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Ee Vs Moca (.PNG)</a:t>
            </a:r>
          </a:p>
          <a:p>
            <a:pPr>
              <a:defRPr sz="576" i="1"/>
            </a:pPr>
            <a:r>
              <a:t>output/NATURE_REAL_ee_vs_moca.png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compil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457200"/>
            <a:ext cx="534924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Compiled Results (.PNG)</a:t>
            </a:r>
          </a:p>
          <a:p>
            <a:pPr>
              <a:defRPr sz="576" i="1"/>
            </a:pPr>
            <a:r>
              <a:t>output/NATURE_REAL_compiled_results.png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participant_valu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15" y="457200"/>
            <a:ext cx="4846968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Participant Values Table (.PNG)</a:t>
            </a:r>
          </a:p>
          <a:p>
            <a:pPr>
              <a:defRPr sz="576" i="1"/>
            </a:pPr>
            <a:r>
              <a:t>output/NATURE_REAL_participant_values_table.png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TURE_REAL_violin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4" y="457200"/>
            <a:ext cx="5660571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Violin Lc Residuals (.PNG)</a:t>
            </a:r>
          </a:p>
          <a:p>
            <a:pPr>
              <a:defRPr sz="576" i="1"/>
            </a:pPr>
            <a:r>
              <a:t>output/NATURE_REAL_violin_lc_residuals.png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ticipant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2209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Participant Demographics (.PNG)</a:t>
            </a:r>
          </a:p>
          <a:p>
            <a:pPr>
              <a:defRPr sz="576" i="1"/>
            </a:pPr>
            <a:r>
              <a:t>output/figures/intermediate/participant_demographics.png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92" y="457200"/>
            <a:ext cx="7202615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Age Distribution (.PNG)</a:t>
            </a:r>
          </a:p>
          <a:p>
            <a:pPr>
              <a:defRPr sz="576" i="1"/>
            </a:pPr>
            <a:r>
              <a:t>output/figures/intermediate/age_distribution.png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pha_power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6862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Alpha Power Violin (.PNG)</a:t>
            </a:r>
          </a:p>
          <a:p>
            <a:pPr>
              <a:defRPr sz="576" i="1"/>
            </a:pPr>
            <a:r>
              <a:t>output/figures/intermediate/alpha_power_violin.png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c_v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8125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Lc Vs Alpha (.PNG)</a:t>
            </a:r>
          </a:p>
          <a:p>
            <a:pPr>
              <a:defRPr sz="576" i="1"/>
            </a:pPr>
            <a:r>
              <a:t>output/figures/intermediate/lc_vs_alpha.png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vf_vs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8232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Svf Vs Ee (.PNG)</a:t>
            </a:r>
          </a:p>
          <a:p>
            <a:pPr>
              <a:defRPr sz="576" i="1"/>
            </a:pPr>
            <a:r>
              <a:t>output/figures/intermediate/svf_vs_ee.png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vf_ee_box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4592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Intermediate: Svf Ee Boxswarm (.PNG)</a:t>
            </a:r>
          </a:p>
          <a:p>
            <a:pPr>
              <a:defRPr sz="576" i="1"/>
            </a:pPr>
            <a:r>
              <a:t>output/figures/intermediate/svf_ee_boxswarm.png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pha_vs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08" y="457200"/>
            <a:ext cx="7069182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Alpha Vs Lc Residuals (.PNG)</a:t>
            </a:r>
          </a:p>
          <a:p>
            <a:pPr>
              <a:defRPr sz="576" i="1"/>
            </a:pPr>
            <a:r>
              <a:t>output/alpha_vs_LC_residuals.png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mantic_fl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42" y="457200"/>
            <a:ext cx="7701915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Semantic Fluency Analysis (.PNG)</a:t>
            </a:r>
          </a:p>
          <a:p>
            <a:pPr>
              <a:defRPr sz="576" i="1"/>
            </a:pPr>
            <a:r>
              <a:t>output/semantic_fluency_analysis.png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iled_distribution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30314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Compiled Distribution Figures (.PNG)</a:t>
            </a:r>
          </a:p>
          <a:p>
            <a:pPr>
              <a:defRPr sz="576" i="1"/>
            </a:pPr>
            <a:r>
              <a:t>output/compiled_distribution_figures.png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loit_explo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34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Exploit Explore Bar (.PNG)</a:t>
            </a:r>
          </a:p>
          <a:p>
            <a:pPr>
              <a:defRPr sz="576" i="1"/>
            </a:pPr>
            <a:r>
              <a:t>output/exploit_explore_bar.png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bined_mediation_exploi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73" y="457200"/>
            <a:ext cx="4828253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Combined Mediation Exploit Panels (.PNG)</a:t>
            </a:r>
          </a:p>
          <a:p>
            <a:pPr>
              <a:defRPr sz="576" i="1"/>
            </a:pPr>
            <a:r>
              <a:t>output/combined_mediation_exploit_panels.png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gri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59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Test Grid Panels (.PNG)</a:t>
            </a:r>
          </a:p>
          <a:p>
            <a:pPr>
              <a:defRPr sz="576" i="1"/>
            </a:pPr>
            <a:r>
              <a:t>output/test_grid_panels.png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svf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6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Svf Age Nature (.PNG)</a:t>
            </a:r>
          </a:p>
          <a:p>
            <a:pPr>
              <a:defRPr sz="576" i="1"/>
            </a:pPr>
            <a:r>
              <a:t>output/mediation_svf_age_nature.png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exploit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Exploit Age Nature (.PNG)</a:t>
            </a:r>
          </a:p>
          <a:p>
            <a:pPr>
              <a:defRPr sz="576" i="1"/>
            </a:pPr>
            <a:r>
              <a:t>output/mediation_exploit_age_nature.png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exploit_coherence_metric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Exploit Coherence Metric Nature (.PNG)</a:t>
            </a:r>
          </a:p>
          <a:p>
            <a:pPr>
              <a:defRPr sz="576" i="1"/>
            </a:pPr>
            <a:r>
              <a:t>output/mediation_exploit_coherence_metric_nature.png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svf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66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Svf Disease Stage Working (.PNG)</a:t>
            </a:r>
          </a:p>
          <a:p>
            <a:pPr>
              <a:defRPr sz="576" i="1"/>
            </a:pPr>
            <a:r>
              <a:t>output/mediation_svf_disease_stage_working.png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ee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804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Ee Disease Stage Working (.PNG)</a:t>
            </a:r>
          </a:p>
          <a:p>
            <a:pPr>
              <a:defRPr sz="576" i="1"/>
            </a:pPr>
            <a:r>
              <a:t>output/mediation_ee_disease_stage_working.png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tion_age_vs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594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 b="1"/>
            </a:pPr>
            <a:r>
              <a:t>Mediation Age Vs Disease (.PNG)</a:t>
            </a:r>
          </a:p>
          <a:p>
            <a:pPr>
              <a:defRPr sz="576" i="1"/>
            </a:pPr>
            <a:r>
              <a:t>output/mediation_age_vs_disease.png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