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3" r:id="rId6"/>
    <p:sldId id="265" r:id="rId7"/>
    <p:sldId id="267" r:id="rId8"/>
    <p:sldId id="270" r:id="rId9"/>
    <p:sldId id="272" r:id="rId10"/>
    <p:sldId id="274" r:id="rId11"/>
    <p:sldId id="276" r:id="rId12"/>
    <p:sldId id="278" r:id="rId13"/>
    <p:sldId id="280" r:id="rId14"/>
    <p:sldId id="282" r:id="rId15"/>
    <p:sldId id="284" r:id="rId16"/>
    <p:sldId id="286" r:id="rId17"/>
    <p:sldId id="288" r:id="rId18"/>
    <p:sldId id="290" r:id="rId19"/>
    <p:sldId id="292" r:id="rId20"/>
    <p:sldId id="294" r:id="rId21"/>
    <p:sldId id="297" r:id="rId22"/>
    <p:sldId id="300" r:id="rId23"/>
    <p:sldId id="302" r:id="rId24"/>
    <p:sldId id="304" r:id="rId25"/>
    <p:sldId id="306" r:id="rId26"/>
    <p:sldId id="308" r:id="rId27"/>
    <p:sldId id="310" r:id="rId28"/>
    <p:sldId id="312" r:id="rId29"/>
    <p:sldId id="314" r:id="rId30"/>
    <p:sldId id="316" r:id="rId31"/>
    <p:sldId id="317" r:id="rId32"/>
    <p:sldId id="318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2"/>
    <p:restoredTop sz="94626"/>
  </p:normalViewPr>
  <p:slideViewPr>
    <p:cSldViewPr snapToGrid="0" snapToObjects="1">
      <p:cViewPr varScale="1">
        <p:scale>
          <a:sx n="121" d="100"/>
          <a:sy n="121" d="100"/>
        </p:scale>
        <p:origin x="157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Fluency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ATURE_REAL_figure0_alpha_violin_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24152"/>
            <a:ext cx="8686800" cy="42617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1586" y="5825884"/>
            <a:ext cx="82296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Figure0 Alpha Violin Swarm (.PNG)</a:t>
            </a:r>
          </a:p>
          <a:p>
            <a:pPr>
              <a:defRPr sz="576" i="1"/>
            </a:pPr>
            <a:r>
              <a:rPr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File: output/NATURE_REAL_figure0_alpha_violin_swarm.png</a:t>
            </a:r>
          </a:p>
          <a:p>
            <a:pPr>
              <a:defRPr sz="504">
                <a:latin typeface="Courier New"/>
              </a:defRPr>
            </a:pPr>
            <a:r>
              <a:rPr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path: /Users/</a:t>
            </a:r>
            <a:r>
              <a:rPr sz="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diettachihade</a:t>
            </a:r>
            <a:r>
              <a:rPr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/snafu-</a:t>
            </a:r>
            <a:r>
              <a:rPr sz="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r>
              <a:rPr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/research/</a:t>
            </a:r>
            <a:r>
              <a:rPr sz="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semantic_fluency_analysis</a:t>
            </a:r>
            <a:r>
              <a:rPr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/output/NATURE_REAL_figure0_alpha_violin_swarm.png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ATURE_REAL_figure0b_coherence_violin_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2229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t>Figure0B Coherence Violin Swarm (.PNG)</a:t>
            </a:r>
          </a:p>
          <a:p>
            <a:pPr>
              <a:defRPr sz="576" i="1"/>
            </a:pPr>
            <a:r>
              <a:t>File: output/NATURE_REAL_figure0b_coherence_violin_swarm.png</a:t>
            </a:r>
          </a:p>
          <a:p>
            <a:pPr>
              <a:defRPr sz="504">
                <a:latin typeface="Courier New"/>
              </a:defRPr>
            </a:pPr>
            <a:r>
              <a:t>Full path: /Users/diettachihade/snafu-py/research/semantic_fluency_analysis/output/NATURE_REAL_figure0b_coherence_violin_swarm.png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ATURE_REAL_figure1_exploration_exploi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22" y="457200"/>
            <a:ext cx="7792754" cy="5760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rPr dirty="0"/>
              <a:t>Figure1 Exploration Exploitation (.PNG)</a:t>
            </a:r>
          </a:p>
          <a:p>
            <a:pPr>
              <a:defRPr sz="576" i="1"/>
            </a:pPr>
            <a:r>
              <a:rPr dirty="0"/>
              <a:t>File: output/NATURE_REAL_figure1_exploration_exploitation.png</a:t>
            </a:r>
          </a:p>
          <a:p>
            <a:pPr>
              <a:defRPr sz="504">
                <a:latin typeface="Courier New"/>
              </a:defRPr>
            </a:pPr>
            <a:r>
              <a:rPr dirty="0"/>
              <a:t>Full path: /Users/</a:t>
            </a:r>
            <a:r>
              <a:rPr dirty="0" err="1"/>
              <a:t>diettachihade</a:t>
            </a:r>
            <a:r>
              <a:rPr dirty="0"/>
              <a:t>/snafu-</a:t>
            </a:r>
            <a:r>
              <a:rPr dirty="0" err="1"/>
              <a:t>py</a:t>
            </a:r>
            <a:r>
              <a:rPr dirty="0"/>
              <a:t>/research/</a:t>
            </a:r>
            <a:r>
              <a:t>semantic_fluency_analysis</a:t>
            </a:r>
            <a:r>
              <a:rPr dirty="0"/>
              <a:t>/output/NATURE_REAL_figure1_exploration_exploitation.png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ATURE_REAL_figure2_phase_coh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08" y="457200"/>
            <a:ext cx="7879982" cy="5760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t>Figure2 Phase Coherence (.PNG)</a:t>
            </a:r>
          </a:p>
          <a:p>
            <a:pPr>
              <a:defRPr sz="576" i="1"/>
            </a:pPr>
            <a:r>
              <a:t>File: output/NATURE_REAL_figure2_phase_coherence.png</a:t>
            </a:r>
          </a:p>
          <a:p>
            <a:pPr>
              <a:defRPr sz="504">
                <a:latin typeface="Courier New"/>
              </a:defRPr>
            </a:pPr>
            <a:r>
              <a:t>Full path: /Users/diettachihade/snafu-py/research/semantic_fluency_analysis/output/NATURE_REAL_figure2_phase_coherence.png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ATURE_REAL_figure3_meg_cor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871" y="457200"/>
            <a:ext cx="7608256" cy="5760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t>Figure3 Meg Correlations (.PNG)</a:t>
            </a:r>
          </a:p>
          <a:p>
            <a:pPr>
              <a:defRPr sz="576" i="1"/>
            </a:pPr>
            <a:r>
              <a:t>File: output/NATURE_REAL_figure3_meg_correlations.png</a:t>
            </a:r>
          </a:p>
          <a:p>
            <a:pPr>
              <a:defRPr sz="504">
                <a:latin typeface="Courier New"/>
              </a:defRPr>
            </a:pPr>
            <a:r>
              <a:t>Full path: /Users/diettachihade/snafu-py/research/semantic_fluency_analysis/output/NATURE_REAL_figure3_meg_correlations.png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ATURE_REAL_figure4_comprehens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30572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t>Figure4 Comprehensive (.PNG)</a:t>
            </a:r>
          </a:p>
          <a:p>
            <a:pPr>
              <a:defRPr sz="576" i="1"/>
            </a:pPr>
            <a:r>
              <a:t>File: output/NATURE_REAL_figure4_comprehensive.png</a:t>
            </a:r>
          </a:p>
          <a:p>
            <a:pPr>
              <a:defRPr sz="504">
                <a:latin typeface="Courier New"/>
              </a:defRPr>
            </a:pPr>
            <a:r>
              <a:t>Full path: /Users/diettachihade/snafu-py/research/semantic_fluency_analysis/output/NATURE_REAL_figure4_comprehensive.png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ATURE_REAL_behavior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08" y="457200"/>
            <a:ext cx="8230983" cy="5760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t>Behavior Performance (.PNG)</a:t>
            </a:r>
          </a:p>
          <a:p>
            <a:pPr>
              <a:defRPr sz="576" i="1"/>
            </a:pPr>
            <a:r>
              <a:t>File: output/NATURE_REAL_behavior_performance.png</a:t>
            </a:r>
          </a:p>
          <a:p>
            <a:pPr>
              <a:defRPr sz="504">
                <a:latin typeface="Courier New"/>
              </a:defRPr>
            </a:pPr>
            <a:r>
              <a:t>Full path: /Users/diettachihade/snafu-py/research/semantic_fluency_analysis/output/NATURE_REAL_behavior_performance.png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ATURE_REAL_ee_vs_mo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961" y="457200"/>
            <a:ext cx="6944077" cy="5760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t>Ee Vs Moca (.PNG)</a:t>
            </a:r>
          </a:p>
          <a:p>
            <a:pPr>
              <a:defRPr sz="576" i="1"/>
            </a:pPr>
            <a:r>
              <a:t>File: output/NATURE_REAL_ee_vs_moca.png</a:t>
            </a:r>
          </a:p>
          <a:p>
            <a:pPr>
              <a:defRPr sz="504">
                <a:latin typeface="Courier New"/>
              </a:defRPr>
            </a:pPr>
            <a:r>
              <a:t>Full path: /Users/diettachihade/snafu-py/research/semantic_fluency_analysis/output/NATURE_REAL_ee_vs_moca.png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ATURE_REAL_compiled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76" y="457200"/>
            <a:ext cx="5184648" cy="5760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t>Compiled Results (.PNG)</a:t>
            </a:r>
          </a:p>
          <a:p>
            <a:pPr>
              <a:defRPr sz="576" i="1"/>
            </a:pPr>
            <a:r>
              <a:t>File: output/NATURE_REAL_compiled_results.png</a:t>
            </a:r>
          </a:p>
          <a:p>
            <a:pPr>
              <a:defRPr sz="504">
                <a:latin typeface="Courier New"/>
              </a:defRPr>
            </a:pPr>
            <a:r>
              <a:t>Full path: /Users/diettachihade/snafu-py/research/semantic_fluency_analysis/output/NATURE_REAL_compiled_results.png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ATURE_REAL_participant_value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084" y="457200"/>
            <a:ext cx="4697831" cy="5760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t>Participant Values Table (.PNG)</a:t>
            </a:r>
          </a:p>
          <a:p>
            <a:pPr>
              <a:defRPr sz="576" i="1"/>
            </a:pPr>
            <a:r>
              <a:t>File: output/NATURE_REAL_participant_values_table.png</a:t>
            </a:r>
          </a:p>
          <a:p>
            <a:pPr>
              <a:defRPr sz="504">
                <a:latin typeface="Courier New"/>
              </a:defRPr>
            </a:pPr>
            <a:r>
              <a:t>Full path: /Users/diettachihade/snafu-py/research/semantic_fluency_analysis/output/NATURE_REAL_participant_values_table.png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ATURE_REAL_violin_lc_resid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57200"/>
            <a:ext cx="5486400" cy="5760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t>Violin Lc Residuals (.PNG)</a:t>
            </a:r>
          </a:p>
          <a:p>
            <a:pPr>
              <a:defRPr sz="576" i="1"/>
            </a:pPr>
            <a:r>
              <a:t>File: output/NATURE_REAL_violin_lc_residuals.png</a:t>
            </a:r>
          </a:p>
          <a:p>
            <a:pPr>
              <a:defRPr sz="504">
                <a:latin typeface="Courier New"/>
              </a:defRPr>
            </a:pPr>
            <a:r>
              <a:t>Full path: /Users/diettachihade/snafu-py/research/semantic_fluency_analysis/output/NATURE_REAL_violin_lc_residuals.png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ticipant_demograph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522090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t>Intermediate: Participant Demographics (.PNG)</a:t>
            </a:r>
          </a:p>
          <a:p>
            <a:pPr>
              <a:defRPr sz="576" i="1"/>
            </a:pPr>
            <a:r>
              <a:t>File: output/figures/intermediate/participant_demographics.png</a:t>
            </a:r>
          </a:p>
          <a:p>
            <a:pPr>
              <a:defRPr sz="504">
                <a:latin typeface="Courier New"/>
              </a:defRPr>
            </a:pPr>
            <a:r>
              <a:t>Full path: /Users/diettachihade/snafu-py/research/semantic_fluency_analysis/output/figures/intermediate/participant_demographics.png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501" y="457200"/>
            <a:ext cx="6980996" cy="5760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t>Intermediate: Age Distribution (.PNG)</a:t>
            </a:r>
          </a:p>
          <a:p>
            <a:pPr>
              <a:defRPr sz="576" i="1"/>
            </a:pPr>
            <a:r>
              <a:t>File: output/figures/intermediate/age_distribution.png</a:t>
            </a:r>
          </a:p>
          <a:p>
            <a:pPr>
              <a:defRPr sz="504">
                <a:latin typeface="Courier New"/>
              </a:defRPr>
            </a:pPr>
            <a:r>
              <a:t>Full path: /Users/diettachihade/snafu-py/research/semantic_fluency_analysis/output/figures/intermediate/age_distribution.png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lpha_power_viol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56862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t>Intermediate: Alpha Power Violin (.PNG)</a:t>
            </a:r>
          </a:p>
          <a:p>
            <a:pPr>
              <a:defRPr sz="576" i="1"/>
            </a:pPr>
            <a:r>
              <a:t>File: output/figures/intermediate/alpha_power_violin.png</a:t>
            </a:r>
          </a:p>
          <a:p>
            <a:pPr>
              <a:defRPr sz="504">
                <a:latin typeface="Courier New"/>
              </a:defRPr>
            </a:pPr>
            <a:r>
              <a:t>Full path: /Users/diettachihade/snafu-py/research/semantic_fluency_analysis/output/figures/intermediate/alpha_power_violin.png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c_vs_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21" y="457200"/>
            <a:ext cx="8609357" cy="5760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t>Intermediate: Lc Vs Alpha (.PNG)</a:t>
            </a:r>
          </a:p>
          <a:p>
            <a:pPr>
              <a:defRPr sz="576" i="1"/>
            </a:pPr>
            <a:r>
              <a:t>File: output/figures/intermediate/lc_vs_alpha.png</a:t>
            </a:r>
          </a:p>
          <a:p>
            <a:pPr>
              <a:defRPr sz="504">
                <a:latin typeface="Courier New"/>
              </a:defRPr>
            </a:pPr>
            <a:r>
              <a:t>Full path: /Users/diettachihade/snafu-py/research/semantic_fluency_analysis/output/figures/intermediate/lc_vs_alpha.png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vf_vs_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25" y="457200"/>
            <a:ext cx="8593549" cy="5760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t>Intermediate: Svf Vs Ee (.PNG)</a:t>
            </a:r>
          </a:p>
          <a:p>
            <a:pPr>
              <a:defRPr sz="576" i="1"/>
            </a:pPr>
            <a:r>
              <a:t>File: output/figures/intermediate/svf_vs_ee.png</a:t>
            </a:r>
          </a:p>
          <a:p>
            <a:pPr>
              <a:defRPr sz="504">
                <a:latin typeface="Courier New"/>
              </a:defRPr>
            </a:pPr>
            <a:r>
              <a:t>Full path: /Users/diettachihade/snafu-py/research/semantic_fluency_analysis/output/figures/intermediate/svf_vs_ee.png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vf_ee_box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54592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143037"/>
            <a:ext cx="8229600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rPr sz="1050" dirty="0"/>
              <a:t>Intermediate: </a:t>
            </a:r>
            <a:r>
              <a:rPr sz="1050" dirty="0" err="1"/>
              <a:t>Svf</a:t>
            </a:r>
            <a:r>
              <a:rPr sz="1050" dirty="0"/>
              <a:t> Ee </a:t>
            </a:r>
            <a:r>
              <a:rPr sz="1050" dirty="0" err="1"/>
              <a:t>Boxswarm</a:t>
            </a:r>
            <a:r>
              <a:rPr sz="1050" dirty="0"/>
              <a:t> (.PNG)</a:t>
            </a:r>
          </a:p>
          <a:p>
            <a:pPr>
              <a:defRPr sz="576" i="1"/>
            </a:pPr>
            <a:r>
              <a:rPr sz="900" dirty="0"/>
              <a:t>File: output/figures/intermediate/</a:t>
            </a:r>
            <a:r>
              <a:rPr sz="900" dirty="0" err="1"/>
              <a:t>svf_ee_boxswarm.png</a:t>
            </a:r>
            <a:endParaRPr sz="900" dirty="0"/>
          </a:p>
          <a:p>
            <a:pPr>
              <a:defRPr sz="504">
                <a:latin typeface="Courier New"/>
              </a:defRPr>
            </a:pPr>
            <a:r>
              <a:rPr sz="800" dirty="0"/>
              <a:t>Full path: /Users/</a:t>
            </a:r>
            <a:r>
              <a:rPr sz="800" dirty="0" err="1"/>
              <a:t>diettachihade</a:t>
            </a:r>
            <a:r>
              <a:rPr sz="800" dirty="0"/>
              <a:t>/snafu-</a:t>
            </a:r>
            <a:r>
              <a:rPr sz="800" dirty="0" err="1"/>
              <a:t>py</a:t>
            </a:r>
            <a:r>
              <a:rPr sz="800" dirty="0"/>
              <a:t>/research/</a:t>
            </a:r>
            <a:r>
              <a:rPr sz="800" dirty="0" err="1"/>
              <a:t>semantic_fluency_analysis</a:t>
            </a:r>
            <a:r>
              <a:rPr sz="800" dirty="0"/>
              <a:t>/output/figures/intermediate/</a:t>
            </a:r>
            <a:r>
              <a:rPr sz="800" dirty="0" err="1"/>
              <a:t>svf_ee_boxswarm.png</a:t>
            </a:r>
            <a:endParaRPr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lpha_vs_LC_resid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165" y="457200"/>
            <a:ext cx="6851668" cy="5760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t>Alpha Vs Lc Residuals (.PNG)</a:t>
            </a:r>
          </a:p>
          <a:p>
            <a:pPr>
              <a:defRPr sz="576" i="1"/>
            </a:pPr>
            <a:r>
              <a:t>File: output/alpha_vs_LC_residuals.png</a:t>
            </a:r>
          </a:p>
          <a:p>
            <a:pPr>
              <a:defRPr sz="504">
                <a:latin typeface="Courier New"/>
              </a:defRPr>
            </a:pPr>
            <a:r>
              <a:t>Full path: /Users/diettachihade/snafu-py/research/semantic_fluency_analysis/output/alpha_vs_LC_residuals.png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emantic_fluenc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533" y="457200"/>
            <a:ext cx="7464933" cy="5760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t>Semantic Fluency Analysis (.PNG)</a:t>
            </a:r>
          </a:p>
          <a:p>
            <a:pPr>
              <a:defRPr sz="576" i="1"/>
            </a:pPr>
            <a:r>
              <a:t>File: output/semantic_fluency_analysis.png</a:t>
            </a:r>
          </a:p>
          <a:p>
            <a:pPr>
              <a:defRPr sz="504">
                <a:latin typeface="Courier New"/>
              </a:defRPr>
            </a:pPr>
            <a:r>
              <a:t>Full path: /Users/diettachihade/snafu-py/research/semantic_fluency_analysis/output/semantic_fluency_analysis.png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mpiled_distribution_fig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86" y="1913294"/>
            <a:ext cx="8686800" cy="30314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" y="5654442"/>
            <a:ext cx="8229600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rPr sz="1200" dirty="0"/>
              <a:t>Compiled Distribution Figures (.PNG)</a:t>
            </a:r>
          </a:p>
          <a:p>
            <a:pPr>
              <a:defRPr sz="576" i="1"/>
            </a:pPr>
            <a:r>
              <a:rPr sz="1050" dirty="0"/>
              <a:t>File: output/</a:t>
            </a:r>
            <a:r>
              <a:rPr sz="1050" dirty="0" err="1"/>
              <a:t>compiled_distribution_figures.png</a:t>
            </a:r>
            <a:endParaRPr sz="1050" dirty="0"/>
          </a:p>
          <a:p>
            <a:pPr>
              <a:defRPr sz="504">
                <a:latin typeface="Courier New"/>
              </a:defRPr>
            </a:pPr>
            <a:r>
              <a:rPr sz="1000" dirty="0"/>
              <a:t>Full path: /Users/</a:t>
            </a:r>
            <a:r>
              <a:rPr sz="1000" dirty="0" err="1"/>
              <a:t>diettachihade</a:t>
            </a:r>
            <a:r>
              <a:rPr sz="1000" dirty="0"/>
              <a:t>/snafu-</a:t>
            </a:r>
            <a:r>
              <a:rPr sz="1000" dirty="0" err="1"/>
              <a:t>py</a:t>
            </a:r>
            <a:r>
              <a:rPr sz="1000" dirty="0"/>
              <a:t>/research/</a:t>
            </a:r>
            <a:r>
              <a:rPr sz="1000" dirty="0" err="1"/>
              <a:t>semantic_fluency_analysis</a:t>
            </a:r>
            <a:r>
              <a:rPr sz="1000" dirty="0"/>
              <a:t>/output/</a:t>
            </a:r>
            <a:r>
              <a:rPr sz="1000" dirty="0" err="1"/>
              <a:t>compiled_distribution_figures.png</a:t>
            </a:r>
            <a:endParaRPr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ploit_explor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8634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t>Exploit Explore Bar (.PNG)</a:t>
            </a:r>
          </a:p>
          <a:p>
            <a:pPr>
              <a:defRPr sz="576" i="1"/>
            </a:pPr>
            <a:r>
              <a:t>File: output/exploit_explore_bar.png</a:t>
            </a:r>
          </a:p>
          <a:p>
            <a:pPr>
              <a:defRPr sz="504">
                <a:latin typeface="Courier New"/>
              </a:defRPr>
            </a:pPr>
            <a:r>
              <a:t>Full path: /Users/diettachihade/snafu-py/research/semantic_fluency_analysis/output/exploit_explore_bar.png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mbined_mediation_exploit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154" y="457200"/>
            <a:ext cx="4679691" cy="5760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t>Combined Mediation Exploit Panels (.PNG)</a:t>
            </a:r>
          </a:p>
          <a:p>
            <a:pPr>
              <a:defRPr sz="576" i="1"/>
            </a:pPr>
            <a:r>
              <a:t>File: output/combined_mediation_exploit_panels.png</a:t>
            </a:r>
          </a:p>
          <a:p>
            <a:pPr>
              <a:defRPr sz="504">
                <a:latin typeface="Courier New"/>
              </a:defRPr>
            </a:pPr>
            <a:r>
              <a:t>Full path: /Users/diettachihade/snafu-py/research/semantic_fluency_analysis/output/combined_mediation_exploit_panels.png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st_grid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8659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t>Test Grid Panels (.PNG)</a:t>
            </a:r>
          </a:p>
          <a:p>
            <a:pPr>
              <a:defRPr sz="576" i="1"/>
            </a:pPr>
            <a:r>
              <a:t>File: output/test_grid_panels.png</a:t>
            </a:r>
          </a:p>
          <a:p>
            <a:pPr>
              <a:defRPr sz="504">
                <a:latin typeface="Courier New"/>
              </a:defRPr>
            </a:pPr>
            <a:r>
              <a:t>Full path: /Users/diettachihade/snafu-py/research/semantic_fluency_analysis/output/test_grid_panels.png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tion_svf_age_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6762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t>Mediation Svf Age Nature (.PNG)</a:t>
            </a:r>
          </a:p>
          <a:p>
            <a:pPr>
              <a:defRPr sz="576" i="1"/>
            </a:pPr>
            <a:r>
              <a:t>File: output/mediation_svf_age_nature.png</a:t>
            </a:r>
          </a:p>
          <a:p>
            <a:pPr>
              <a:defRPr sz="504">
                <a:latin typeface="Courier New"/>
              </a:defRPr>
            </a:pPr>
            <a:r>
              <a:t>Full path: /Users/diettachihade/snafu-py/research/semantic_fluency_analysis/output/mediation_svf_age_nature.png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tion_exploit_age_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6703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t>Mediation Exploit Age Nature (.PNG)</a:t>
            </a:r>
          </a:p>
          <a:p>
            <a:pPr>
              <a:defRPr sz="576" i="1"/>
            </a:pPr>
            <a:r>
              <a:t>File: output/mediation_exploit_age_nature.png</a:t>
            </a:r>
          </a:p>
          <a:p>
            <a:pPr>
              <a:defRPr sz="504">
                <a:latin typeface="Courier New"/>
              </a:defRPr>
            </a:pPr>
            <a:r>
              <a:t>Full path: /Users/diettachihade/snafu-py/research/semantic_fluency_analysis/output/mediation_exploit_age_nature.png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tion_exploit_coherence_metric_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6703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t>Mediation Exploit Coherence Metric Nature (.PNG)</a:t>
            </a:r>
          </a:p>
          <a:p>
            <a:pPr>
              <a:defRPr sz="576" i="1"/>
            </a:pPr>
            <a:r>
              <a:t>File: output/mediation_exploit_coherence_metric_nature.png</a:t>
            </a:r>
          </a:p>
          <a:p>
            <a:pPr>
              <a:defRPr sz="504">
                <a:latin typeface="Courier New"/>
              </a:defRPr>
            </a:pPr>
            <a:r>
              <a:t>Full path: /Users/diettachihade/snafu-py/research/semantic_fluency_analysis/output/mediation_exploit_coherence_metric_nature.png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tion_svf_disease_stage_wor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466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t>Mediation Svf Disease Stage Working (.PNG)</a:t>
            </a:r>
          </a:p>
          <a:p>
            <a:pPr>
              <a:defRPr sz="576" i="1"/>
            </a:pPr>
            <a:r>
              <a:t>File: output/mediation_svf_disease_stage_working.png</a:t>
            </a:r>
          </a:p>
          <a:p>
            <a:pPr>
              <a:defRPr sz="504">
                <a:latin typeface="Courier New"/>
              </a:defRPr>
            </a:pPr>
            <a:r>
              <a:t>Full path: /Users/diettachihade/snafu-py/research/semantic_fluency_analysis/output/mediation_svf_disease_stage_working.png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tion_ee_disease_stage_wor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4804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t>Mediation Ee Disease Stage Working (.PNG)</a:t>
            </a:r>
          </a:p>
          <a:p>
            <a:pPr>
              <a:defRPr sz="576" i="1"/>
            </a:pPr>
            <a:r>
              <a:t>File: output/mediation_ee_disease_stage_working.png</a:t>
            </a:r>
          </a:p>
          <a:p>
            <a:pPr>
              <a:defRPr sz="504">
                <a:latin typeface="Courier New"/>
              </a:defRPr>
            </a:pPr>
            <a:r>
              <a:t>Full path: /Users/diettachihade/snafu-py/research/semantic_fluency_analysis/output/mediation_ee_disease_stage_working.png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tion_age_vs_dise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5942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4" b="1"/>
            </a:pPr>
            <a:r>
              <a:t>Mediation Age Vs Disease (.PNG)</a:t>
            </a:r>
          </a:p>
          <a:p>
            <a:pPr>
              <a:defRPr sz="576" i="1"/>
            </a:pPr>
            <a:r>
              <a:t>File: output/mediation_age_vs_disease.png</a:t>
            </a:r>
          </a:p>
          <a:p>
            <a:pPr>
              <a:defRPr sz="504">
                <a:latin typeface="Courier New"/>
              </a:defRPr>
            </a:pPr>
            <a:r>
              <a:t>Full path: /Users/diettachihade/snafu-py/research/semantic_fluency_analysis/output/mediation_age_vs_disease.png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6F683E-620D-9987-9C68-EF80C5EBA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782" y="3758183"/>
            <a:ext cx="1984674" cy="10018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B8507C-156D-A410-05B2-EC72DA2BA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5335" y="3815713"/>
            <a:ext cx="1459880" cy="8492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D5D1E6-760C-292E-FDDD-755FDED63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056" y="3783376"/>
            <a:ext cx="1555296" cy="12499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4C2774-BF8A-2D49-5733-5C7BE7FC24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6295" y="374741"/>
            <a:ext cx="2676391" cy="14561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5B0070-D67B-6C50-B87B-9C0D6494E0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8111" y="387975"/>
            <a:ext cx="1985875" cy="15178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29708C-16EE-C440-FFCE-1F10CE7867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4248" y="2305196"/>
            <a:ext cx="1613992" cy="11307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0733E8-8514-79AE-A985-7B751D2556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37091" y="2312873"/>
            <a:ext cx="1311984" cy="8460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CE93BDF-57B6-692A-7FBB-40125EB7F7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8907" y="2328579"/>
            <a:ext cx="1616364" cy="11230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E2F2B3-0636-9D85-7D15-E206FBAC758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6178" y="5222653"/>
            <a:ext cx="4272476" cy="149477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D83A640-6EF1-81DD-B80A-49CF9FDB5B11}"/>
              </a:ext>
            </a:extLst>
          </p:cNvPr>
          <p:cNvSpPr txBox="1"/>
          <p:nvPr/>
        </p:nvSpPr>
        <p:spPr>
          <a:xfrm>
            <a:off x="2979955" y="83740"/>
            <a:ext cx="35682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Step 1-5 Data Processing and Phase Detection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2D3702-F06B-3846-8DC5-098FA86B4E3C}"/>
              </a:ext>
            </a:extLst>
          </p:cNvPr>
          <p:cNvSpPr txBox="1"/>
          <p:nvPr/>
        </p:nvSpPr>
        <p:spPr>
          <a:xfrm>
            <a:off x="2968200" y="1941268"/>
            <a:ext cx="32689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Step 6: Intra Phase Similarity Computation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41ECFA-0396-5425-73D4-BA3668674D5E}"/>
              </a:ext>
            </a:extLst>
          </p:cNvPr>
          <p:cNvSpPr txBox="1"/>
          <p:nvPr/>
        </p:nvSpPr>
        <p:spPr>
          <a:xfrm>
            <a:off x="2912416" y="3440173"/>
            <a:ext cx="33247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Step 7: Inter-phase Similarity Computation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8AC1DD-7F4B-DA0B-8819-E70BC4C39245}"/>
              </a:ext>
            </a:extLst>
          </p:cNvPr>
          <p:cNvSpPr txBox="1"/>
          <p:nvPr/>
        </p:nvSpPr>
        <p:spPr>
          <a:xfrm>
            <a:off x="2764140" y="4914876"/>
            <a:ext cx="32197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Step 8: Coherence ratio and Final metrics 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0756641-3146-71A6-2907-7DF91DD7E06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02192" y="5274646"/>
            <a:ext cx="2692096" cy="130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8651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0995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2968</TotalTime>
  <Words>1495</Words>
  <Application>Microsoft Macintosh PowerPoint</Application>
  <PresentationFormat>On-screen Show (4:3)</PresentationFormat>
  <Paragraphs>92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Times New Roman</vt:lpstr>
      <vt:lpstr>Office Theme</vt:lpstr>
      <vt:lpstr>Semantic Fluency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Dietta Chihade</cp:lastModifiedBy>
  <cp:revision>5</cp:revision>
  <dcterms:created xsi:type="dcterms:W3CDTF">2013-01-27T09:14:16Z</dcterms:created>
  <dcterms:modified xsi:type="dcterms:W3CDTF">2025-11-24T17:17:33Z</dcterms:modified>
  <cp:category/>
</cp:coreProperties>
</file>